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7" r:id="rId2"/>
    <p:sldId id="269" r:id="rId3"/>
    <p:sldId id="270" r:id="rId4"/>
    <p:sldId id="283" r:id="rId5"/>
    <p:sldId id="285" r:id="rId6"/>
    <p:sldId id="297" r:id="rId7"/>
    <p:sldId id="287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68" r:id="rId16"/>
    <p:sldId id="266" r:id="rId17"/>
  </p:sldIdLst>
  <p:sldSz cx="12192000" cy="6858000"/>
  <p:notesSz cx="6858000" cy="9144000"/>
  <p:embeddedFontLs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Verdana" panose="020B060403050404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23D57-8961-4EDF-B20F-F61CB548389C}" v="14" dt="2025-09-10T04:25:51.750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ttipalli Lokesh" userId="f07e6e6db7e0cd49" providerId="LiveId" clId="{72690A95-827D-4BC1-964B-3C80A8938800}"/>
    <pc:docChg chg="undo custSel delSld modSld sldOrd">
      <pc:chgData name="Mettipalli Lokesh" userId="f07e6e6db7e0cd49" providerId="LiveId" clId="{72690A95-827D-4BC1-964B-3C80A8938800}" dt="2025-09-10T04:33:08.974" v="267" actId="20577"/>
      <pc:docMkLst>
        <pc:docMk/>
      </pc:docMkLst>
      <pc:sldChg chg="addSp delSp modSp del mod">
        <pc:chgData name="Mettipalli Lokesh" userId="f07e6e6db7e0cd49" providerId="LiveId" clId="{72690A95-827D-4BC1-964B-3C80A8938800}" dt="2025-09-10T04:27:55.510" v="257" actId="2696"/>
        <pc:sldMkLst>
          <pc:docMk/>
          <pc:sldMk cId="2553607396" sldId="284"/>
        </pc:sldMkLst>
        <pc:spChg chg="del mod">
          <ac:chgData name="Mettipalli Lokesh" userId="f07e6e6db7e0cd49" providerId="LiveId" clId="{72690A95-827D-4BC1-964B-3C80A8938800}" dt="2025-09-10T04:26:30.397" v="237"/>
          <ac:spMkLst>
            <pc:docMk/>
            <pc:sldMk cId="2553607396" sldId="284"/>
            <ac:spMk id="2" creationId="{3868BB63-B0F6-6085-0114-078C2B18D3E2}"/>
          </ac:spMkLst>
        </pc:spChg>
        <pc:spChg chg="add del">
          <ac:chgData name="Mettipalli Lokesh" userId="f07e6e6db7e0cd49" providerId="LiveId" clId="{72690A95-827D-4BC1-964B-3C80A8938800}" dt="2025-09-10T04:25:44.834" v="227" actId="22"/>
          <ac:spMkLst>
            <pc:docMk/>
            <pc:sldMk cId="2553607396" sldId="284"/>
            <ac:spMk id="4" creationId="{EE963C75-ED86-787A-CD0E-E709C13B7E95}"/>
          </ac:spMkLst>
        </pc:spChg>
        <pc:graphicFrameChg chg="add mod modGraphic">
          <ac:chgData name="Mettipalli Lokesh" userId="f07e6e6db7e0cd49" providerId="LiveId" clId="{72690A95-827D-4BC1-964B-3C80A8938800}" dt="2025-09-10T04:26:23.720" v="234" actId="6549"/>
          <ac:graphicFrameMkLst>
            <pc:docMk/>
            <pc:sldMk cId="2553607396" sldId="284"/>
            <ac:graphicFrameMk id="5" creationId="{523E49A5-64C4-8931-D8AC-B755BFF58444}"/>
          </ac:graphicFrameMkLst>
        </pc:graphicFrameChg>
      </pc:sldChg>
      <pc:sldChg chg="addSp delSp modSp mod">
        <pc:chgData name="Mettipalli Lokesh" userId="f07e6e6db7e0cd49" providerId="LiveId" clId="{72690A95-827D-4BC1-964B-3C80A8938800}" dt="2025-09-10T04:27:42.708" v="256" actId="1076"/>
        <pc:sldMkLst>
          <pc:docMk/>
          <pc:sldMk cId="3395805616" sldId="285"/>
        </pc:sldMkLst>
        <pc:spChg chg="add del">
          <ac:chgData name="Mettipalli Lokesh" userId="f07e6e6db7e0cd49" providerId="LiveId" clId="{72690A95-827D-4BC1-964B-3C80A8938800}" dt="2025-09-10T04:13:15.631" v="207" actId="478"/>
          <ac:spMkLst>
            <pc:docMk/>
            <pc:sldMk cId="3395805616" sldId="285"/>
            <ac:spMk id="2" creationId="{8825F6A7-52C3-CBB2-E93A-8086DCFD43E9}"/>
          </ac:spMkLst>
        </pc:spChg>
        <pc:spChg chg="add mod">
          <ac:chgData name="Mettipalli Lokesh" userId="f07e6e6db7e0cd49" providerId="LiveId" clId="{72690A95-827D-4BC1-964B-3C80A8938800}" dt="2025-09-10T04:27:42.708" v="256" actId="1076"/>
          <ac:spMkLst>
            <pc:docMk/>
            <pc:sldMk cId="3395805616" sldId="285"/>
            <ac:spMk id="6" creationId="{1F793D66-06B4-1BFF-76E3-8E4D37A45153}"/>
          </ac:spMkLst>
        </pc:spChg>
        <pc:graphicFrameChg chg="del mod modGraphic">
          <ac:chgData name="Mettipalli Lokesh" userId="f07e6e6db7e0cd49" providerId="LiveId" clId="{72690A95-827D-4BC1-964B-3C80A8938800}" dt="2025-09-10T04:16:04.278" v="213" actId="478"/>
          <ac:graphicFrameMkLst>
            <pc:docMk/>
            <pc:sldMk cId="3395805616" sldId="285"/>
            <ac:graphicFrameMk id="3" creationId="{62B77479-5C30-9842-67FA-3A1FE97E0D0B}"/>
          </ac:graphicFrameMkLst>
        </pc:graphicFrameChg>
        <pc:graphicFrameChg chg="add mod modGraphic">
          <ac:chgData name="Mettipalli Lokesh" userId="f07e6e6db7e0cd49" providerId="LiveId" clId="{72690A95-827D-4BC1-964B-3C80A8938800}" dt="2025-09-10T04:27:42.708" v="256" actId="1076"/>
          <ac:graphicFrameMkLst>
            <pc:docMk/>
            <pc:sldMk cId="3395805616" sldId="285"/>
            <ac:graphicFrameMk id="4" creationId="{2D3D5BBA-72B0-04FB-BDC2-859DCD3C799E}"/>
          </ac:graphicFrameMkLst>
        </pc:graphicFrameChg>
      </pc:sldChg>
      <pc:sldChg chg="addSp delSp modSp mod">
        <pc:chgData name="Mettipalli Lokesh" userId="f07e6e6db7e0cd49" providerId="LiveId" clId="{72690A95-827D-4BC1-964B-3C80A8938800}" dt="2025-09-10T04:05:00.574" v="200" actId="5793"/>
        <pc:sldMkLst>
          <pc:docMk/>
          <pc:sldMk cId="2678626333" sldId="291"/>
        </pc:sldMkLst>
        <pc:spChg chg="add mod">
          <ac:chgData name="Mettipalli Lokesh" userId="f07e6e6db7e0cd49" providerId="LiveId" clId="{72690A95-827D-4BC1-964B-3C80A8938800}" dt="2025-09-10T04:05:00.574" v="200" actId="5793"/>
          <ac:spMkLst>
            <pc:docMk/>
            <pc:sldMk cId="2678626333" sldId="291"/>
            <ac:spMk id="4" creationId="{B412A4BD-73D8-FDBF-6DD7-5D821109DA2F}"/>
          </ac:spMkLst>
        </pc:spChg>
        <pc:spChg chg="mod">
          <ac:chgData name="Mettipalli Lokesh" userId="f07e6e6db7e0cd49" providerId="LiveId" clId="{72690A95-827D-4BC1-964B-3C80A8938800}" dt="2025-09-10T03:58:43.181" v="154" actId="20577"/>
          <ac:spMkLst>
            <pc:docMk/>
            <pc:sldMk cId="2678626333" sldId="291"/>
            <ac:spMk id="5" creationId="{672EAB92-1B08-26D3-F3BE-4E1F71696BFE}"/>
          </ac:spMkLst>
        </pc:spChg>
        <pc:spChg chg="del mod">
          <ac:chgData name="Mettipalli Lokesh" userId="f07e6e6db7e0cd49" providerId="LiveId" clId="{72690A95-827D-4BC1-964B-3C80A8938800}" dt="2025-09-10T03:58:29.710" v="152"/>
          <ac:spMkLst>
            <pc:docMk/>
            <pc:sldMk cId="2678626333" sldId="291"/>
            <ac:spMk id="6" creationId="{EDA2501D-0F07-37A7-6D7A-9D6099C50187}"/>
          </ac:spMkLst>
        </pc:spChg>
        <pc:picChg chg="add mod">
          <ac:chgData name="Mettipalli Lokesh" userId="f07e6e6db7e0cd49" providerId="LiveId" clId="{72690A95-827D-4BC1-964B-3C80A8938800}" dt="2025-09-10T04:02:42.325" v="160" actId="14100"/>
          <ac:picMkLst>
            <pc:docMk/>
            <pc:sldMk cId="2678626333" sldId="291"/>
            <ac:picMk id="3" creationId="{17651525-493B-37B1-CC60-115F385C357C}"/>
          </ac:picMkLst>
        </pc:picChg>
      </pc:sldChg>
      <pc:sldChg chg="modSp mod">
        <pc:chgData name="Mettipalli Lokesh" userId="f07e6e6db7e0cd49" providerId="LiveId" clId="{72690A95-827D-4BC1-964B-3C80A8938800}" dt="2025-09-10T03:35:16.065" v="33" actId="20577"/>
        <pc:sldMkLst>
          <pc:docMk/>
          <pc:sldMk cId="588679995" sldId="293"/>
        </pc:sldMkLst>
        <pc:spChg chg="mod">
          <ac:chgData name="Mettipalli Lokesh" userId="f07e6e6db7e0cd49" providerId="LiveId" clId="{72690A95-827D-4BC1-964B-3C80A8938800}" dt="2025-09-10T03:29:01.707" v="0" actId="1076"/>
          <ac:spMkLst>
            <pc:docMk/>
            <pc:sldMk cId="588679995" sldId="293"/>
            <ac:spMk id="4" creationId="{6B1E683D-AC96-BC6F-8A63-266702A9892F}"/>
          </ac:spMkLst>
        </pc:spChg>
        <pc:graphicFrameChg chg="mod modGraphic">
          <ac:chgData name="Mettipalli Lokesh" userId="f07e6e6db7e0cd49" providerId="LiveId" clId="{72690A95-827D-4BC1-964B-3C80A8938800}" dt="2025-09-10T03:35:16.065" v="33" actId="20577"/>
          <ac:graphicFrameMkLst>
            <pc:docMk/>
            <pc:sldMk cId="588679995" sldId="293"/>
            <ac:graphicFrameMk id="3" creationId="{663A9A7A-8E3E-8E17-4C13-7B41DA1FD52F}"/>
          </ac:graphicFrameMkLst>
        </pc:graphicFrameChg>
      </pc:sldChg>
      <pc:sldChg chg="ord">
        <pc:chgData name="Mettipalli Lokesh" userId="f07e6e6db7e0cd49" providerId="LiveId" clId="{72690A95-827D-4BC1-964B-3C80A8938800}" dt="2025-09-10T04:06:34.162" v="202"/>
        <pc:sldMkLst>
          <pc:docMk/>
          <pc:sldMk cId="4051244562" sldId="294"/>
        </pc:sldMkLst>
      </pc:sldChg>
      <pc:sldChg chg="addSp modSp mod">
        <pc:chgData name="Mettipalli Lokesh" userId="f07e6e6db7e0cd49" providerId="LiveId" clId="{72690A95-827D-4BC1-964B-3C80A8938800}" dt="2025-09-10T04:33:08.974" v="267" actId="20577"/>
        <pc:sldMkLst>
          <pc:docMk/>
          <pc:sldMk cId="435690819" sldId="295"/>
        </pc:sldMkLst>
        <pc:spChg chg="mod">
          <ac:chgData name="Mettipalli Lokesh" userId="f07e6e6db7e0cd49" providerId="LiveId" clId="{72690A95-827D-4BC1-964B-3C80A8938800}" dt="2025-09-10T04:33:08.974" v="267" actId="20577"/>
          <ac:spMkLst>
            <pc:docMk/>
            <pc:sldMk cId="435690819" sldId="295"/>
            <ac:spMk id="3" creationId="{CAB0A616-C30B-FB60-E1C5-3B03E01D919B}"/>
          </ac:spMkLst>
        </pc:spChg>
        <pc:graphicFrameChg chg="add mod modGraphic">
          <ac:chgData name="Mettipalli Lokesh" userId="f07e6e6db7e0cd49" providerId="LiveId" clId="{72690A95-827D-4BC1-964B-3C80A8938800}" dt="2025-09-10T03:56:26.608" v="143" actId="14734"/>
          <ac:graphicFrameMkLst>
            <pc:docMk/>
            <pc:sldMk cId="435690819" sldId="295"/>
            <ac:graphicFrameMk id="2" creationId="{6FFB46E5-BA82-CB97-8DEF-5E153C7F8564}"/>
          </ac:graphicFrameMkLst>
        </pc:graphicFrameChg>
      </pc:sldChg>
      <pc:sldChg chg="del">
        <pc:chgData name="Mettipalli Lokesh" userId="f07e6e6db7e0cd49" providerId="LiveId" clId="{72690A95-827D-4BC1-964B-3C80A8938800}" dt="2025-09-10T03:43:11.313" v="97" actId="2696"/>
        <pc:sldMkLst>
          <pc:docMk/>
          <pc:sldMk cId="3027332303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78557-85A5-4B7B-99EB-EAB867AEA6AA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10268-2FE6-47BB-9C00-D1747E6BB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86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A351-370B-1A52-995E-A68DF4E0B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F6C54-0592-F3D0-B35F-B2F1F8FB6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9DA33-8DFC-4D0A-48DE-EAA21331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214B3-A079-DE7D-3FDB-5631E629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2B61D-A14E-4CCB-625A-A16F42FD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7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4CE0-2C16-7D52-F3D9-4AF3AB3A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6A99E-BF1E-41EB-96C8-1F5F4F757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335D9-0469-C558-BCE8-F50E3C48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A5F38-41F6-6E1E-8290-38121A77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05FE8-2FF8-8E6C-77CF-94DDD81E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8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7DA0-E6A2-9507-6BEA-1FBE047D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2D9D9-055D-18B8-C1A7-35E2042FB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F64D3-8F41-51D4-9FC8-E1663FEB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1E046-9146-D674-DB68-45C4A20C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83881-242C-D7A0-1936-E92F0621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90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F5DE-D401-2A4E-8D39-4C47498A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91E5-9B07-E2D3-6835-C9E22582F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AA99A-294C-2EE2-698E-2DA1E0F1A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5FDDE-52EE-56DF-1385-A294828F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F516F-0234-FE8B-4C3D-792068AB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7A2B3-07F5-D5C6-2F2E-7BB644B5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9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94AE-0D5D-192D-6480-6E6D1255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ED34E-E245-767F-F637-7DAA988A9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76D84-0926-275A-6800-EEE7226CF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12C87-7F34-F284-B360-7DBD1A452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54F38-728F-1739-559B-236E375F5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E89DB-7AE1-F482-69F4-754CD99C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3AB4B-6676-F1F3-F41E-FFEFEE156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0D500-512A-76C3-A070-D527B70A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5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BA67-377E-811E-6707-E06B414A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793BC-7608-7DB2-A921-F82967B9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CDF3A-9134-AE95-0673-4AACCCD6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88074-ADB3-251B-D0D2-2C02DACA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530BB-8EF1-FD20-B171-12466BE6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44B2A-65C7-AAE2-80AE-9C663B7C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D232A-3E8A-5860-B01B-F62F6A38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2C3C-7F76-8F74-26CD-E33B6787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95CF9-0439-7B23-BFA7-9C88F360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5CB76-EBFB-B7E3-0E84-9E9A624BD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2F9C1-37C3-A34E-399F-88C256B5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99EB7-6F00-3B4B-7251-A43BB5ED6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48277-3F81-3100-B2B2-81AC6064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7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1287-7DC9-6316-8589-F05A6598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E88F1-E4C3-EDCB-6F4F-52ABDF6EE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F4BCC-7FD7-D1DB-1005-74641ABB1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C1921-3D81-EF2E-5B68-37EDD13A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12AD8-3197-373E-49E8-6A266059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A2385-2387-1324-A67B-ED7397EA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ED3E-CBEA-33DA-51E5-35132CDA6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FB2BB-2F03-E8FB-0F06-93EB8F2C1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0D6C-568F-24EB-6784-292F52B8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A1042-519D-FFA8-8A66-53B45115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3A650-332D-431A-4457-F240695E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1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3CBAB-E78E-A599-A9A9-9AF969E90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41CB-446E-9B3E-FD47-5358380DD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5460A-7AB2-BE80-E848-E3941C5C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E3A5C-C5E5-9A34-809A-9D298195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2D23-4F37-5067-DA68-E730DB69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6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E8FD6-2DC1-288C-9DE5-FFB17490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077BC-FF57-6574-C5EA-D44EEEF3B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B9BF5-673C-5FF6-6D57-EB1E3EC68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877F8-9E92-42FD-812E-EC8EB2B3C06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0D73-7321-BE03-6F57-118FDA377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4C0C4-8256-689A-A9A0-39737EAE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1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67392753_Smart_Irrigation_Systems_in_Agriculture_A_Systematic_Review?utm_source=chatgpt.com" TargetMode="External"/><Relationship Id="rId3" Type="http://schemas.openxmlformats.org/officeDocument/2006/relationships/hyperlink" Target="https://pmc.ncbi.nlm.nih.gov/articles/PMC7070544/?utm_source=chatgpt.com" TargetMode="External"/><Relationship Id="rId7" Type="http://schemas.openxmlformats.org/officeDocument/2006/relationships/hyperlink" Target="https://journals.plos.org/plosone/article?id=10.1371%2Fjournal.pone.0319268&amp;utm_source=chatgpt.com" TargetMode="External"/><Relationship Id="rId2" Type="http://schemas.openxmlformats.org/officeDocument/2006/relationships/hyperlink" Target="mailto:https://www.sciencedirect.com/science/article/pii/S2772427122000791?via%3Dihub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html/2506.11835v1?utm_source=chatgpt.com" TargetMode="External"/><Relationship Id="rId5" Type="http://schemas.openxmlformats.org/officeDocument/2006/relationships/hyperlink" Target="https://www.mdpi.com/2073-4395/15/2/366?utm_source=chatgpt.com" TargetMode="External"/><Relationship Id="rId4" Type="http://schemas.openxmlformats.org/officeDocument/2006/relationships/hyperlink" Target="https://www.researchgate.net/publication/390554968_Smart_Irrigation_Technologies_and_Prospects_for_Enhancing_Water_Use_Efficiency_for_Sustainable_Agriculture?utm_source=chatgpt.com" TargetMode="External"/><Relationship Id="rId9" Type="http://schemas.openxmlformats.org/officeDocument/2006/relationships/hyperlink" Target="https://www.nature.com/articles/s41598-025-98137-2?utm_source=chatgpt.com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rgbClr val="17365D"/>
              </a:buClr>
              <a:buSzPts val="2800"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202</a:t>
            </a: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Smart Irrigation System for Precision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 : CSE_137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Swetha K H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820871693"/>
              </p:ext>
            </p:extLst>
          </p:nvPr>
        </p:nvGraphicFramePr>
        <p:xfrm>
          <a:off x="553347" y="2721840"/>
          <a:ext cx="5418675" cy="1828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20221CSE0433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Mekala Prakash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20221CSE0439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Bana </a:t>
                      </a:r>
                      <a:r>
                        <a:rPr lang="en-US" sz="1800" u="none" strike="noStrike" cap="none" dirty="0" err="1"/>
                        <a:t>Tejeswar</a:t>
                      </a:r>
                      <a:r>
                        <a:rPr lang="en-US" sz="1800" u="none" strike="noStrike" cap="none" dirty="0"/>
                        <a:t> Reddy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20221CSE0447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Bella Vishnu Vardhan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: CSE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. </a:t>
            </a:r>
            <a:r>
              <a:rPr lang="en-US" sz="1800" b="1" i="0" u="none" strike="noStrike" cap="none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.Sampath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PSCS_647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Both (IoT-based hardware with software integration)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“The project focuses on developing a smart irrigation system using IoT sensors and microcontrollers to monitor soil and weather conditions in real-time, automate irrigation, conserve water, and enhance crop yield with minimal manual effort.”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2"/>
            <a:ext cx="10668000" cy="511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/>
              <a:t>Abstract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/>
              <a:t>Literature Survey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/>
              <a:t>Objectives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/>
              <a:t>Existing Methods and Drawbacks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/>
              <a:t>Proposed Method &amp; Feasibility Study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/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/>
              <a:t>Hardware and Software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/>
              <a:t>Timeline (Gantt Chart)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/>
              <a:t>References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B95F4-9A8C-51D4-03AE-895B4AE3F393}"/>
              </a:ext>
            </a:extLst>
          </p:cNvPr>
          <p:cNvSpPr txBox="1"/>
          <p:nvPr/>
        </p:nvSpPr>
        <p:spPr>
          <a:xfrm>
            <a:off x="393290" y="1328794"/>
            <a:ext cx="1107112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Agriculture today suffers from challenges such as water scarcity and inefficient irrigation techniques.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To overcome these issues, the Internet of Things (IoT) provides intelligent solutions that enable real-time monitoring of soil and environmental conditions, leading to efficient water usage and better crop yield.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This project presents an IoT-based Smart Irrigation System designed for precision farming.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It integrates sensors, microcontrollers, and cloud platforms to automate irrigation based on soil moisture and weather data.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The outcomes highlight improved water conservation, sustainable farming, and optimized crop production.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C7039D-28DC-D202-ABE5-AA62029DEB28}"/>
              </a:ext>
            </a:extLst>
          </p:cNvPr>
          <p:cNvSpPr txBox="1"/>
          <p:nvPr/>
        </p:nvSpPr>
        <p:spPr>
          <a:xfrm>
            <a:off x="393290" y="589935"/>
            <a:ext cx="10491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373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3D5BBA-72B0-04FB-BDC2-859DCD3C7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085555"/>
              </p:ext>
            </p:extLst>
          </p:nvPr>
        </p:nvGraphicFramePr>
        <p:xfrm>
          <a:off x="358815" y="549269"/>
          <a:ext cx="10893265" cy="6345766"/>
        </p:xfrm>
        <a:graphic>
          <a:graphicData uri="http://schemas.openxmlformats.org/drawingml/2006/table">
            <a:tbl>
              <a:tblPr/>
              <a:tblGrid>
                <a:gridCol w="2178653">
                  <a:extLst>
                    <a:ext uri="{9D8B030D-6E8A-4147-A177-3AD203B41FA5}">
                      <a16:colId xmlns:a16="http://schemas.microsoft.com/office/drawing/2014/main" val="2998710907"/>
                    </a:ext>
                  </a:extLst>
                </a:gridCol>
                <a:gridCol w="2178653">
                  <a:extLst>
                    <a:ext uri="{9D8B030D-6E8A-4147-A177-3AD203B41FA5}">
                      <a16:colId xmlns:a16="http://schemas.microsoft.com/office/drawing/2014/main" val="1396100617"/>
                    </a:ext>
                  </a:extLst>
                </a:gridCol>
                <a:gridCol w="2178653">
                  <a:extLst>
                    <a:ext uri="{9D8B030D-6E8A-4147-A177-3AD203B41FA5}">
                      <a16:colId xmlns:a16="http://schemas.microsoft.com/office/drawing/2014/main" val="1018640428"/>
                    </a:ext>
                  </a:extLst>
                </a:gridCol>
                <a:gridCol w="2178653">
                  <a:extLst>
                    <a:ext uri="{9D8B030D-6E8A-4147-A177-3AD203B41FA5}">
                      <a16:colId xmlns:a16="http://schemas.microsoft.com/office/drawing/2014/main" val="3378179079"/>
                    </a:ext>
                  </a:extLst>
                </a:gridCol>
                <a:gridCol w="2178653">
                  <a:extLst>
                    <a:ext uri="{9D8B030D-6E8A-4147-A177-3AD203B41FA5}">
                      <a16:colId xmlns:a16="http://schemas.microsoft.com/office/drawing/2014/main" val="1217599861"/>
                    </a:ext>
                  </a:extLst>
                </a:gridCol>
              </a:tblGrid>
              <a:tr h="298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Paper (Year)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Problem Studied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Approach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Findings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Gap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332645"/>
                  </a:ext>
                </a:extLst>
              </a:tr>
              <a:tr h="745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Dursun &amp; Ozden (2011)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Manual irrigation wastes water and labor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Wireless drip irrigation with soil moisture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Saved water, increased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 remote/cloud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062004"/>
                  </a:ext>
                </a:extLst>
              </a:tr>
              <a:tr h="745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Rawal &amp; Doshi (2016)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Lack of remote control in irrigation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Arduino + GSM-based IoT irrigation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Enabled irrigation via SMS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Only basic automation, no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566314"/>
                  </a:ext>
                </a:extLst>
              </a:tr>
              <a:tr h="745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García et al. (2020)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High water consumption in farming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IoT sensors + cloud 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20–30% water saving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 field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493027"/>
                  </a:ext>
                </a:extLst>
              </a:tr>
              <a:tr h="521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Mukherjee &amp; Singh (2020)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Poor irrigation 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Arduino + ESP8266 with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IoT dashboard improved decisions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No AI/ML forecasting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498567"/>
                  </a:ext>
                </a:extLst>
              </a:tr>
              <a:tr h="726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Vallejo-Gómez et al. (2023)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Unreliable scheduling in traditional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Review of IoT + AI irrigation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AI improves scheduling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Costly and complex for small farmers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528236"/>
                  </a:ext>
                </a:extLst>
              </a:tr>
              <a:tr h="745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Ali et al. (2025)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Inefficient water use in large farms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IoT, wireless sensor networks, deep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Better water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Needs stable internet, high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677052"/>
                  </a:ext>
                </a:extLst>
              </a:tr>
              <a:tr h="745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Zhang et al(2025)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Delay in cloud-only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Edge computing with LoRa + Raspberry Pi 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Reduced latency, faster decisions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High hardware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706733"/>
                  </a:ext>
                </a:extLst>
              </a:tr>
              <a:tr h="745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Kunt (2025)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Lack of intelligent autonomous irrigation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/>
                        <a:t>IoT (ESP32 + sensors) + AI (LSTM) + mobile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AI-driven irrigation, mobile alerts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Needs training data, complex 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7235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793D66-06B4-1BFF-76E3-8E4D37A45153}"/>
              </a:ext>
            </a:extLst>
          </p:cNvPr>
          <p:cNvSpPr txBox="1"/>
          <p:nvPr/>
        </p:nvSpPr>
        <p:spPr>
          <a:xfrm>
            <a:off x="358815" y="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Literature Survey (Overview) :</a:t>
            </a:r>
          </a:p>
        </p:txBody>
      </p:sp>
    </p:spTree>
    <p:extLst>
      <p:ext uri="{BB962C8B-B14F-4D97-AF65-F5344CB8AC3E}">
        <p14:creationId xmlns:p14="http://schemas.microsoft.com/office/powerpoint/2010/main" val="3395805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20630-F9B9-EB5D-FE64-95337ACA9107}"/>
              </a:ext>
            </a:extLst>
          </p:cNvPr>
          <p:cNvSpPr txBox="1"/>
          <p:nvPr/>
        </p:nvSpPr>
        <p:spPr>
          <a:xfrm>
            <a:off x="580104" y="245807"/>
            <a:ext cx="11788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Objectives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63D4E-50E1-B36D-8828-3366F2FD2BE5}"/>
              </a:ext>
            </a:extLst>
          </p:cNvPr>
          <p:cNvSpPr txBox="1"/>
          <p:nvPr/>
        </p:nvSpPr>
        <p:spPr>
          <a:xfrm>
            <a:off x="580104" y="1248694"/>
            <a:ext cx="112087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To design and develop an IoT-based smart irrigation system for precision farming.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 To monitor real-time soil and environmental parameters (moisture, temperature, humidity, etc.) using sensors.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To automate irrigation by controlling water pumps/valves based on sensor data.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To optimize water usage and minimize wastage, ensuring sustainable agriculture.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To improve crop yield and productivity through precise irrigation techniques.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To improve crop yield and productivity through precise irrigation techniques.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7089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35008-DFCD-5041-104B-C8F4F48F721D}"/>
              </a:ext>
            </a:extLst>
          </p:cNvPr>
          <p:cNvSpPr txBox="1"/>
          <p:nvPr/>
        </p:nvSpPr>
        <p:spPr>
          <a:xfrm>
            <a:off x="609600" y="294967"/>
            <a:ext cx="9026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Existing Methods &amp; Drawbacks :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79E6F-65E2-C1D3-24CF-5DAC63492779}"/>
              </a:ext>
            </a:extLst>
          </p:cNvPr>
          <p:cNvSpPr txBox="1"/>
          <p:nvPr/>
        </p:nvSpPr>
        <p:spPr>
          <a:xfrm>
            <a:off x="865239" y="1474838"/>
            <a:ext cx="100878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IoT-Enabled Systems: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i="1" dirty="0"/>
              <a:t>Method</a:t>
            </a:r>
            <a:r>
              <a:rPr lang="en-US" sz="2000" dirty="0"/>
              <a:t>: Soil moisture sensors and microcontrollers are used to automate irrigation partially.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i="1" dirty="0"/>
              <a:t>Drawback</a:t>
            </a:r>
            <a:r>
              <a:rPr lang="en-US" sz="2000" dirty="0"/>
              <a:t>: Limited scalability, high initial cost, often lack environmental adaptability, and may not integrate weather forecasting or data analytics.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82561-7723-F5DD-1028-FD492D5E17EA}"/>
              </a:ext>
            </a:extLst>
          </p:cNvPr>
          <p:cNvSpPr txBox="1"/>
          <p:nvPr/>
        </p:nvSpPr>
        <p:spPr>
          <a:xfrm>
            <a:off x="865239" y="3136490"/>
            <a:ext cx="100878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US" sz="2000" b="1" dirty="0"/>
              <a:t>Timer-Based Irrigation: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i="1" dirty="0"/>
              <a:t> Method</a:t>
            </a:r>
            <a:r>
              <a:rPr lang="en-US" sz="2000" dirty="0"/>
              <a:t>: Irrigation is scheduled at fixed intervals using timers.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b="1" i="1" dirty="0"/>
              <a:t>Drawbacks</a:t>
            </a:r>
            <a:r>
              <a:rPr lang="en-US" sz="2000" dirty="0"/>
              <a:t>: Ignores soil moisture and weather conditions, leads to water</a:t>
            </a:r>
          </a:p>
          <a:p>
            <a:pPr lvl="2"/>
            <a:r>
              <a:rPr lang="en-US" sz="2000" dirty="0"/>
              <a:t>      wastage during rainy days, and inadequate supply in dry periods.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B88753-0608-32D8-B4BA-8E6951C545E9}"/>
              </a:ext>
            </a:extLst>
          </p:cNvPr>
          <p:cNvSpPr txBox="1"/>
          <p:nvPr/>
        </p:nvSpPr>
        <p:spPr>
          <a:xfrm>
            <a:off x="1012723" y="4719484"/>
            <a:ext cx="881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8467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369CA-733A-B6B8-B7EF-2E9640A47E75}"/>
              </a:ext>
            </a:extLst>
          </p:cNvPr>
          <p:cNvSpPr txBox="1"/>
          <p:nvPr/>
        </p:nvSpPr>
        <p:spPr>
          <a:xfrm>
            <a:off x="88490" y="265470"/>
            <a:ext cx="665643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Proposed Method :</a:t>
            </a:r>
            <a:endParaRPr lang="en-US" sz="2400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52A4F-51B4-8E38-52CF-008E9B97EBB0}"/>
              </a:ext>
            </a:extLst>
          </p:cNvPr>
          <p:cNvSpPr txBox="1"/>
          <p:nvPr/>
        </p:nvSpPr>
        <p:spPr>
          <a:xfrm>
            <a:off x="609600" y="1278194"/>
            <a:ext cx="1002890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Data Collection:</a:t>
            </a:r>
            <a:r>
              <a:rPr lang="en-US" dirty="0"/>
              <a:t> Deploy IoT sensors and gather weather and satellite data for real-time field monitoring.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Data Storage:</a:t>
            </a:r>
            <a:r>
              <a:rPr lang="en-US" dirty="0"/>
              <a:t> Store all sensor and environmental data in a time-series optimized database.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Data Processing:</a:t>
            </a:r>
            <a:r>
              <a:rPr lang="en-US" dirty="0"/>
              <a:t> Use Python/ML to analyze soil moisture, crop water needs, and detect anomalies.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Control &amp; Automation:</a:t>
            </a:r>
            <a:r>
              <a:rPr lang="en-US" dirty="0"/>
              <a:t> Automate irrigation through smart valves and pumps based on analysis.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Visualization:</a:t>
            </a:r>
            <a:r>
              <a:rPr lang="en-US" dirty="0"/>
              <a:t> Provide interactive dashboards with maps, charts, and trend analysis.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Security:</a:t>
            </a:r>
            <a:r>
              <a:rPr lang="en-US" dirty="0"/>
              <a:t> Implement role-based access and secure communication for users and devices.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Scalability:</a:t>
            </a:r>
            <a:r>
              <a:rPr lang="en-US" dirty="0"/>
              <a:t> Design modular system to add sensors, expand fields, or integrate regionally.</a:t>
            </a:r>
          </a:p>
        </p:txBody>
      </p:sp>
    </p:spTree>
    <p:extLst>
      <p:ext uri="{BB962C8B-B14F-4D97-AF65-F5344CB8AC3E}">
        <p14:creationId xmlns:p14="http://schemas.microsoft.com/office/powerpoint/2010/main" val="4087956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4FC82-5798-B2FD-1701-03C58DDA7293}"/>
              </a:ext>
            </a:extLst>
          </p:cNvPr>
          <p:cNvSpPr txBox="1"/>
          <p:nvPr/>
        </p:nvSpPr>
        <p:spPr>
          <a:xfrm>
            <a:off x="304802" y="161011"/>
            <a:ext cx="5388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Feasibility Study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7A517-D122-9A35-9181-74D8C96B189B}"/>
              </a:ext>
            </a:extLst>
          </p:cNvPr>
          <p:cNvSpPr txBox="1"/>
          <p:nvPr/>
        </p:nvSpPr>
        <p:spPr>
          <a:xfrm>
            <a:off x="481781" y="924232"/>
            <a:ext cx="953729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Technical Feasibility:</a:t>
            </a:r>
            <a:r>
              <a:rPr lang="en-US" dirty="0"/>
              <a:t> Existing IoT sensors, automation devices, and data analysis tools can support the system.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Economic Feasibility:</a:t>
            </a:r>
            <a:r>
              <a:rPr lang="en-IN" dirty="0"/>
              <a:t> </a:t>
            </a:r>
            <a:r>
              <a:rPr lang="en-US" dirty="0"/>
              <a:t>Investment in sensors and automation is recoverable through water savings, higher yields, and reduced labor costs.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Operational Feasibility:</a:t>
            </a:r>
            <a:r>
              <a:rPr lang="en-US" dirty="0"/>
              <a:t> Farmers can easily monitor and control irrigation remotely with minimal training.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Environmental Feasibility:</a:t>
            </a:r>
            <a:r>
              <a:rPr lang="en-US" dirty="0"/>
              <a:t> Optimized water usage conserves resources and supports sustainable farming.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Risk Feasibility:</a:t>
            </a:r>
            <a:r>
              <a:rPr lang="en-US" dirty="0"/>
              <a:t> System risks like sensor failure or connectivity issues can be managed with alerts and manual overrides.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4669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2EAB92-1B08-26D3-F3BE-4E1F71696BFE}"/>
              </a:ext>
            </a:extLst>
          </p:cNvPr>
          <p:cNvSpPr txBox="1"/>
          <p:nvPr/>
        </p:nvSpPr>
        <p:spPr>
          <a:xfrm>
            <a:off x="88491" y="443237"/>
            <a:ext cx="5751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Architecture Diagram &amp; Explanation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651525-493B-37B1-CC60-115F385C3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362" y="1533832"/>
            <a:ext cx="6145160" cy="4096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12A4BD-73D8-FDBF-6DD7-5D821109DA2F}"/>
              </a:ext>
            </a:extLst>
          </p:cNvPr>
          <p:cNvSpPr txBox="1"/>
          <p:nvPr/>
        </p:nvSpPr>
        <p:spPr>
          <a:xfrm>
            <a:off x="88491" y="1356851"/>
            <a:ext cx="61451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Field Sensors &amp; Actuators → Measure soil moisture, temperature, humidity, and control valves/pumps.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Low-Power Field Gateway (Edge) → Collects sensor data, preprocesses, and sends to cloud.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Connectivity → Provides wireless data transmission from field to cloud.	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Cloud Platform → Stores data, runs analytics, and provides dashboards.</a:t>
            </a:r>
          </a:p>
          <a:p>
            <a:r>
              <a:rPr lang="en-IN" dirty="0"/>
              <a:t>	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Control Logic (Cloud/Edge) → Decides when and how much to irrigate based on data.</a:t>
            </a:r>
          </a:p>
          <a:p>
            <a:r>
              <a:rPr lang="en-IN" dirty="0"/>
              <a:t>	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Irrigation Actuator → Executes irrigation commands through valves, pumps, or sprinklers.</a:t>
            </a:r>
          </a:p>
        </p:txBody>
      </p:sp>
    </p:spTree>
    <p:extLst>
      <p:ext uri="{BB962C8B-B14F-4D97-AF65-F5344CB8AC3E}">
        <p14:creationId xmlns:p14="http://schemas.microsoft.com/office/powerpoint/2010/main" val="2678626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CF9F70-AB60-5A79-7B7D-B2615B48A610}"/>
              </a:ext>
            </a:extLst>
          </p:cNvPr>
          <p:cNvSpPr txBox="1"/>
          <p:nvPr/>
        </p:nvSpPr>
        <p:spPr>
          <a:xfrm>
            <a:off x="403124" y="304800"/>
            <a:ext cx="1097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Modules :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8B6DC6-D569-C4A6-213C-5931B5CC70ED}"/>
              </a:ext>
            </a:extLst>
          </p:cNvPr>
          <p:cNvSpPr txBox="1"/>
          <p:nvPr/>
        </p:nvSpPr>
        <p:spPr>
          <a:xfrm>
            <a:off x="766916" y="1297858"/>
            <a:ext cx="106090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Sensor (Data Acquisition) Module:</a:t>
            </a:r>
            <a:r>
              <a:rPr lang="en-US" dirty="0"/>
              <a:t> Gathers real-time environmental parameters (soil moisture, temperature, humidity) for decision-making.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Edge Processing (Controller) Module:</a:t>
            </a:r>
            <a:r>
              <a:rPr lang="en-US" dirty="0"/>
              <a:t> Uses a microcontroller  to process sensor data, implement threshold logic or AI, and operate the water pump via relay.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Communication Module:</a:t>
            </a:r>
            <a:r>
              <a:rPr lang="en-US" dirty="0"/>
              <a:t> Enables data exchange and system connectivity—often via Wi‑Fi or cloud platforms.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User Interface Module:</a:t>
            </a:r>
            <a:r>
              <a:rPr lang="en-US" dirty="0"/>
              <a:t> Provides real-time monitoring and manual override capabilities via mobile apps (e.g., Blynk).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78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3A9A7A-8E3E-8E17-4C13-7B41DA1FD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780069"/>
              </p:ext>
            </p:extLst>
          </p:nvPr>
        </p:nvGraphicFramePr>
        <p:xfrm>
          <a:off x="373625" y="1160206"/>
          <a:ext cx="11818375" cy="5384330"/>
        </p:xfrm>
        <a:graphic>
          <a:graphicData uri="http://schemas.openxmlformats.org/drawingml/2006/table">
            <a:tbl>
              <a:tblPr/>
              <a:tblGrid>
                <a:gridCol w="2363675">
                  <a:extLst>
                    <a:ext uri="{9D8B030D-6E8A-4147-A177-3AD203B41FA5}">
                      <a16:colId xmlns:a16="http://schemas.microsoft.com/office/drawing/2014/main" val="3143040621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3893870545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3790688941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3835804869"/>
                    </a:ext>
                  </a:extLst>
                </a:gridCol>
                <a:gridCol w="2363675">
                  <a:extLst>
                    <a:ext uri="{9D8B030D-6E8A-4147-A177-3AD203B41FA5}">
                      <a16:colId xmlns:a16="http://schemas.microsoft.com/office/drawing/2014/main" val="2025142014"/>
                    </a:ext>
                  </a:extLst>
                </a:gridCol>
              </a:tblGrid>
              <a:tr h="486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Technology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Why Chosen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Role in Project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90739"/>
                  </a:ext>
                </a:extLst>
              </a:tr>
              <a:tr h="486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Sensing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Moisture, Temp, Humidity, pH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Collect field and soil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cost, accurate, easy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input data for irrigation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644339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Arduino / ESP8266 / ESP32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 sensor data, control pumps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power, simple 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Acts as the brain of the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8537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Communication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Wi-Fi / GSM / LoRa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 data to cloud/server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Reliable, flexible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Ensures remote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94295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Actuation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Water Pump, Valves, Relays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 water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Easy to integrate with micro controller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Executes irrigation decisions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478982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Solar Panel + Battery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 the system in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Renewable, reliable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Continuous power supply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36704"/>
                  </a:ext>
                </a:extLst>
              </a:tr>
              <a:tr h="851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Gateway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Raspberry 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processing, send to cloud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Compact, supports Python/Linux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Preprocesses and forwards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2169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1E683D-AC96-BC6F-8A63-266702A9892F}"/>
              </a:ext>
            </a:extLst>
          </p:cNvPr>
          <p:cNvSpPr txBox="1"/>
          <p:nvPr/>
        </p:nvSpPr>
        <p:spPr>
          <a:xfrm>
            <a:off x="373625" y="117987"/>
            <a:ext cx="10097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Technology Stack(Hardware and Software Details) :</a:t>
            </a:r>
          </a:p>
        </p:txBody>
      </p:sp>
    </p:spTree>
    <p:extLst>
      <p:ext uri="{BB962C8B-B14F-4D97-AF65-F5344CB8AC3E}">
        <p14:creationId xmlns:p14="http://schemas.microsoft.com/office/powerpoint/2010/main" val="588679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5A65C4-87E3-A7BC-0A2A-BE1F69C1C893}"/>
              </a:ext>
            </a:extLst>
          </p:cNvPr>
          <p:cNvSpPr txBox="1"/>
          <p:nvPr/>
        </p:nvSpPr>
        <p:spPr>
          <a:xfrm>
            <a:off x="1396181" y="2035279"/>
            <a:ext cx="89276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August 2025: Requirement gathering and design.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September 2025: </a:t>
            </a:r>
            <a:r>
              <a:rPr lang="en-US" sz="2400" dirty="0"/>
              <a:t>Literature Survey, Methods &amp; Proposed Architecture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October 2025: Frontend development and visualization.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November 2025: Testing and deployment.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December 2025: Final documentation and review.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46665-CC2F-A7CC-3107-721BD3A6EEE6}"/>
              </a:ext>
            </a:extLst>
          </p:cNvPr>
          <p:cNvSpPr txBox="1"/>
          <p:nvPr/>
        </p:nvSpPr>
        <p:spPr>
          <a:xfrm>
            <a:off x="1170038" y="373625"/>
            <a:ext cx="10068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51244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0A616-C30B-FB60-E1C5-3B03E01D919B}"/>
              </a:ext>
            </a:extLst>
          </p:cNvPr>
          <p:cNvSpPr txBox="1"/>
          <p:nvPr/>
        </p:nvSpPr>
        <p:spPr>
          <a:xfrm>
            <a:off x="108155" y="98323"/>
            <a:ext cx="11946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Academic References  </a:t>
            </a:r>
            <a:r>
              <a:rPr lang="en-US" sz="2000" b="1" dirty="0"/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46E5-BA82-CB97-8DEF-5E153C7F8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670753"/>
              </p:ext>
            </p:extLst>
          </p:nvPr>
        </p:nvGraphicFramePr>
        <p:xfrm>
          <a:off x="629265" y="640899"/>
          <a:ext cx="11228438" cy="6017344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529047">
                  <a:extLst>
                    <a:ext uri="{9D8B030D-6E8A-4147-A177-3AD203B41FA5}">
                      <a16:colId xmlns:a16="http://schemas.microsoft.com/office/drawing/2014/main" val="3008952031"/>
                    </a:ext>
                  </a:extLst>
                </a:gridCol>
                <a:gridCol w="4625107">
                  <a:extLst>
                    <a:ext uri="{9D8B030D-6E8A-4147-A177-3AD203B41FA5}">
                      <a16:colId xmlns:a16="http://schemas.microsoft.com/office/drawing/2014/main" val="1605954566"/>
                    </a:ext>
                  </a:extLst>
                </a:gridCol>
                <a:gridCol w="1449177">
                  <a:extLst>
                    <a:ext uri="{9D8B030D-6E8A-4147-A177-3AD203B41FA5}">
                      <a16:colId xmlns:a16="http://schemas.microsoft.com/office/drawing/2014/main" val="3664306489"/>
                    </a:ext>
                  </a:extLst>
                </a:gridCol>
                <a:gridCol w="4625107">
                  <a:extLst>
                    <a:ext uri="{9D8B030D-6E8A-4147-A177-3AD203B41FA5}">
                      <a16:colId xmlns:a16="http://schemas.microsoft.com/office/drawing/2014/main" val="3198909775"/>
                    </a:ext>
                  </a:extLst>
                </a:gridCol>
              </a:tblGrid>
              <a:tr h="372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No.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Title &amp; Authors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Publication Year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Key Focus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483551056"/>
                  </a:ext>
                </a:extLst>
              </a:tr>
              <a:tr h="827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1.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"An overview of smart irrigation systems using IoT" by  </a:t>
                      </a:r>
                      <a:r>
                        <a:rPr lang="en-US" sz="1600" b="0" dirty="0" err="1"/>
                        <a:t>K.Obaideen</a:t>
                      </a:r>
                      <a:r>
                        <a:rPr lang="en-US" sz="1600" b="0" dirty="0"/>
                        <a:t> et al.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2022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Highlights the role of IoT and sensory systems in irrigation for sustainable development (</a:t>
                      </a:r>
                      <a:r>
                        <a:rPr lang="en-US" sz="1600" b="0" dirty="0">
                          <a:hlinkClick r:id="rId2"/>
                        </a:rPr>
                        <a:t>article</a:t>
                      </a:r>
                      <a:r>
                        <a:rPr lang="en-US" sz="1600" b="0" dirty="0"/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758626011"/>
                  </a:ext>
                </a:extLst>
              </a:tr>
              <a:tr h="666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2.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"IoT-Based Smart Irrigation Systems: An Overview" by L. García et al.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2020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Broad survey of IoT-based irrigation, covering numerous platforms and techniques (</a:t>
                      </a:r>
                      <a:r>
                        <a:rPr lang="en-US" sz="1600" b="0" dirty="0">
                          <a:hlinkClick r:id="rId3" tooltip="IoT-Based Smart Irrigation Systems: An Overview on ..."/>
                        </a:rPr>
                        <a:t>PMC</a:t>
                      </a:r>
                      <a:r>
                        <a:rPr lang="en-US" sz="1600" b="0" dirty="0"/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2510608"/>
                  </a:ext>
                </a:extLst>
              </a:tr>
              <a:tr h="7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3.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"Smart Irrigation Technologies and Prospects for Enhancing Water Use Efficiency for Sustainable Agriculture" by A. Ali et al.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2025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Analyzes precision monitoring, IoT, wireless sensor systems, deep learning, and control strategies (</a:t>
                      </a:r>
                      <a:r>
                        <a:rPr lang="en-US" sz="1600" b="0" dirty="0">
                          <a:hlinkClick r:id="rId4" tooltip="(PDF) Smart Irrigation Technologies and Prospects for ..."/>
                        </a:rPr>
                        <a:t>ResearchGate</a:t>
                      </a:r>
                      <a:r>
                        <a:rPr lang="en-US" sz="1600" b="0" dirty="0"/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3165401188"/>
                  </a:ext>
                </a:extLst>
              </a:tr>
              <a:tr h="651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4.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"Development of an IoT Smart Irrigation …" by Y. Zhang et al. (MDPI)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2025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Describes an edge-computing architecture using  MCU for real-time irrigation control (</a:t>
                      </a:r>
                      <a:r>
                        <a:rPr lang="en-US" sz="1600" b="0" dirty="0">
                          <a:hlinkClick r:id="rId5" tooltip="Research and Development of an IoT Smart Irrigation ..."/>
                        </a:rPr>
                        <a:t>MDPI</a:t>
                      </a:r>
                      <a:r>
                        <a:rPr lang="en-US" sz="1600" b="0" dirty="0"/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4281088369"/>
                  </a:ext>
                </a:extLst>
              </a:tr>
              <a:tr h="651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5.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"Development of IoT and AI based Smart Irrigation System" (arXiv) by Yunus Emre Kunt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2025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Integrates IoT (ESP32, sensors) with LSTM-based AI and mobile app  for autonomous drip irrigation (</a:t>
                      </a:r>
                      <a:r>
                        <a:rPr lang="en-IN" sz="1600" b="0" dirty="0" err="1">
                          <a:hlinkClick r:id="rId6" tooltip="Development of IoT and AI based Smart Irrigation System"/>
                        </a:rPr>
                        <a:t>arXiv</a:t>
                      </a:r>
                      <a:r>
                        <a:rPr lang="en-IN" sz="1600" b="0" dirty="0"/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959626043"/>
                  </a:ext>
                </a:extLst>
              </a:tr>
              <a:tr h="7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6.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"Smart IoT-driven precision agriculture: Land mapping, crop prediction, and irrigation system" by G. Saha et al. (PLoS ONE)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dirty="0"/>
                        <a:t>2025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Offers an integrated solution encompassing land mapping, crop selection, solar-powered irrigation with ML and fuzzy logic (</a:t>
                      </a:r>
                      <a:r>
                        <a:rPr lang="en-US" sz="1600" b="0" dirty="0">
                          <a:hlinkClick r:id="rId7" tooltip="Smart IoT-driven precision agriculture: Land mapping, crop ..."/>
                        </a:rPr>
                        <a:t>PLOS</a:t>
                      </a:r>
                      <a:r>
                        <a:rPr lang="en-US" sz="1600" b="0" dirty="0"/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184007679"/>
                  </a:ext>
                </a:extLst>
              </a:tr>
              <a:tr h="773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7.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"Smart Irrigation Systems in Agriculture: A Systematic Review" by D. Vallejo-Gómez et al.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2023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A systematic PRISMA-based review of AI-enabled smart irrigation systems in both rural and urban contexts (</a:t>
                      </a:r>
                      <a:r>
                        <a:rPr lang="en-US" sz="1600" b="0">
                          <a:hlinkClick r:id="rId8" tooltip="Smart Irrigation Systems in Agriculture: A Systematic Review"/>
                        </a:rPr>
                        <a:t>ResearchGate</a:t>
                      </a:r>
                      <a:r>
                        <a:rPr lang="en-US" sz="1600" b="0"/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3600578086"/>
                  </a:ext>
                </a:extLst>
              </a:tr>
              <a:tr h="528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8.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/>
                        <a:t>"Intelligent and automatic irrigation system based on …" by X. Liu et al.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/>
                        <a:t>2025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Examines fuzzy logic and blockchain-based secure IoT irrigation systems for precision control (</a:t>
                      </a:r>
                      <a:r>
                        <a:rPr lang="en-US" sz="1600" b="0" dirty="0">
                          <a:hlinkClick r:id="rId9" tooltip="Intelligent and automatic irrigation system based on ..."/>
                        </a:rPr>
                        <a:t>Nature</a:t>
                      </a:r>
                      <a:r>
                        <a:rPr lang="en-US" sz="1600" b="0" dirty="0"/>
                        <a:t>)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4017935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690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1631</Words>
  <Application>Microsoft Office PowerPoint</Application>
  <PresentationFormat>Widescreen</PresentationFormat>
  <Paragraphs>253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 Light</vt:lpstr>
      <vt:lpstr>Cambria</vt:lpstr>
      <vt:lpstr>Wingdings</vt:lpstr>
      <vt:lpstr>Verdana</vt:lpstr>
      <vt:lpstr>Calibri</vt:lpstr>
      <vt:lpstr>Arial</vt:lpstr>
      <vt:lpstr>Office Theme</vt:lpstr>
      <vt:lpstr>PSCS_202_Smart Irrigation System for Precision</vt:lpstr>
      <vt:lpstr>Problem Statement Number: PSCS_647 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Jaswanth Reddy</dc:creator>
  <cp:lastModifiedBy>Mettipalli Lokesh</cp:lastModifiedBy>
  <cp:revision>8</cp:revision>
  <dcterms:created xsi:type="dcterms:W3CDTF">2025-08-11T14:33:12Z</dcterms:created>
  <dcterms:modified xsi:type="dcterms:W3CDTF">2025-09-10T04:33:09Z</dcterms:modified>
</cp:coreProperties>
</file>