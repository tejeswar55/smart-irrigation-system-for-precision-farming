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74" r:id="rId6"/>
    <p:sldId id="273" r:id="rId7"/>
    <p:sldId id="268" r:id="rId8"/>
    <p:sldId id="271" r:id="rId9"/>
    <p:sldId id="272" r:id="rId10"/>
    <p:sldId id="275"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hyperlink" Target="https://github.com/vishnuvardhanjune24-arch/smart-irriation"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GB" sz="2400" dirty="0">
                <a:solidFill>
                  <a:schemeClr val="tx1"/>
                </a:solidFill>
                <a:latin typeface="Cambria" panose="02040503050406030204" pitchFamily="18" charset="0"/>
                <a:ea typeface="Cambria" panose="02040503050406030204" pitchFamily="18" charset="0"/>
              </a:rPr>
              <a:t>PROJECT TITLE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815233" y="2053607"/>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Number:CSE_202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Ms . Shwetha K H</a:t>
            </a:r>
            <a:endParaRPr lang="en-US"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385337" cy="2575897"/>
        </p:xfrm>
        <a:graphic>
          <a:graphicData uri="http://schemas.openxmlformats.org/drawingml/2006/table">
            <a:tbl>
              <a:tblPr firstRow="1" bandRow="1">
                <a:noFill/>
                <a:tableStyleId>{57690726-49DA-4552-BDEB-330DD8EA8BD9}</a:tableStyleId>
              </a:tblPr>
              <a:tblGrid>
                <a:gridCol w="2072173"/>
                <a:gridCol w="3313164"/>
              </a:tblGrid>
              <a:tr h="229865">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747047">
                <a:tc>
                  <a:txBody>
                    <a:bodyPr/>
                    <a:lstStyle/>
                    <a:p>
                      <a:pPr marL="0" marR="0" lvl="0" indent="0" algn="ctr" rtl="0">
                        <a:spcBef>
                          <a:spcPts val="0"/>
                        </a:spcBef>
                        <a:spcAft>
                          <a:spcPts val="0"/>
                        </a:spcAft>
                        <a:buFont typeface="+mj-lt"/>
                        <a:buNone/>
                      </a:pPr>
                      <a:endParaRPr sz="12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29865">
                <a:tc>
                  <a:txBody>
                    <a:bodyPr/>
                    <a:lstStyle/>
                    <a:p>
                      <a:pPr marL="0" marR="0" lvl="0" indent="0" algn="ctr" rtl="0">
                        <a:spcBef>
                          <a:spcPts val="0"/>
                        </a:spcBef>
                        <a:spcAft>
                          <a:spcPts val="0"/>
                        </a:spcAft>
                        <a:buNone/>
                      </a:pPr>
                      <a:endParaRPr sz="12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29865">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29865">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229865">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err="1">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rPr>
              <a:t>B.Tech</a:t>
            </a:r>
            <a:r>
              <a:rPr lang="en-US" sz="1800" b="1" dirty="0">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r>
              <a:rPr lang="en-US" sz="1800" b="1" i="0" u="none" strike="noStrike" cap="none" dirty="0">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rPr>
              <a:t> </a:t>
            </a:r>
            <a:endParaRPr lang="en-US" sz="1800" b="1" i="0" u="none" strike="noStrike" cap="none" dirty="0">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rPr>
              <a:t>Dr. Asif Mohammed</a:t>
            </a:r>
            <a:endParaRPr lang="en-US" sz="1800" b="1" dirty="0">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600" b="1" dirty="0">
                <a:solidFill>
                  <a:schemeClr val="accent6">
                    <a:lumMod val="75000"/>
                  </a:schemeClr>
                </a:solidFill>
              </a:rPr>
              <a:t>Dr. </a:t>
            </a:r>
            <a:r>
              <a:rPr lang="en-IN" sz="1600" b="1" dirty="0" err="1">
                <a:solidFill>
                  <a:schemeClr val="accent6">
                    <a:lumMod val="75000"/>
                  </a:schemeClr>
                </a:solidFill>
              </a:rPr>
              <a:t>Jayavadivel</a:t>
            </a:r>
            <a:r>
              <a:rPr lang="en-IN" sz="1600" b="1" dirty="0">
                <a:solidFill>
                  <a:schemeClr val="accent6">
                    <a:lumMod val="75000"/>
                  </a:schemeClr>
                </a:solidFill>
              </a:rPr>
              <a:t> Ravi</a:t>
            </a:r>
            <a:endParaRPr lang="en-US" sz="2000" b="1" i="0" u="none" strike="noStrike" cap="none" dirty="0">
              <a:solidFill>
                <a:schemeClr val="accent6">
                  <a:lumMod val="75000"/>
                </a:schemeClr>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2" name="Table 1"/>
          <p:cNvGraphicFramePr>
            <a:graphicFrameLocks noGrp="1"/>
          </p:cNvGraphicFramePr>
          <p:nvPr/>
        </p:nvGraphicFramePr>
        <p:xfrm>
          <a:off x="891457" y="3226082"/>
          <a:ext cx="4290142" cy="1183629"/>
        </p:xfrm>
        <a:graphic>
          <a:graphicData uri="http://schemas.openxmlformats.org/drawingml/2006/table">
            <a:tbl>
              <a:tblPr firstRow="1" bandRow="1"/>
              <a:tblGrid>
                <a:gridCol w="2145071"/>
                <a:gridCol w="2145071"/>
              </a:tblGrid>
              <a:tr h="394543">
                <a:tc>
                  <a:txBody>
                    <a:bodyPr/>
                    <a:lstStyle/>
                    <a:p>
                      <a:r>
                        <a:rPr lang="en-US" dirty="0"/>
                        <a:t>20221CSE0433</a:t>
                      </a:r>
                      <a:endParaRPr lang="en-IN" dirty="0"/>
                    </a:p>
                  </a:txBody>
                  <a:tcPr/>
                </a:tc>
                <a:tc>
                  <a:txBody>
                    <a:bodyPr/>
                    <a:lstStyle/>
                    <a:p>
                      <a:r>
                        <a:rPr lang="en-US" dirty="0"/>
                        <a:t>M Prakash</a:t>
                      </a:r>
                      <a:endParaRPr lang="en-IN" dirty="0"/>
                    </a:p>
                  </a:txBody>
                  <a:tcPr/>
                </a:tc>
              </a:tr>
              <a:tr h="394543">
                <a:tc>
                  <a:txBody>
                    <a:bodyPr/>
                    <a:lstStyle/>
                    <a:p>
                      <a:r>
                        <a:rPr lang="en-US" dirty="0"/>
                        <a:t>20221CSE0439</a:t>
                      </a:r>
                      <a:endParaRPr lang="en-IN" dirty="0"/>
                    </a:p>
                  </a:txBody>
                  <a:tcPr/>
                </a:tc>
                <a:tc>
                  <a:txBody>
                    <a:bodyPr/>
                    <a:lstStyle/>
                    <a:p>
                      <a:r>
                        <a:rPr lang="en-US" dirty="0"/>
                        <a:t>B </a:t>
                      </a:r>
                      <a:r>
                        <a:rPr lang="en-US" dirty="0" err="1"/>
                        <a:t>Tejeswar</a:t>
                      </a:r>
                      <a:r>
                        <a:rPr lang="en-US" dirty="0"/>
                        <a:t> Reddy</a:t>
                      </a:r>
                      <a:endParaRPr lang="en-IN" dirty="0"/>
                    </a:p>
                  </a:txBody>
                  <a:tcPr/>
                </a:tc>
              </a:tr>
              <a:tr h="394543">
                <a:tc>
                  <a:txBody>
                    <a:bodyPr/>
                    <a:lstStyle/>
                    <a:p>
                      <a:r>
                        <a:rPr lang="en-US" dirty="0"/>
                        <a:t>20221CSE0447</a:t>
                      </a:r>
                      <a:endParaRPr lang="en-IN" dirty="0"/>
                    </a:p>
                  </a:txBody>
                  <a:tcPr/>
                </a:tc>
                <a:tc>
                  <a:txBody>
                    <a:bodyPr/>
                    <a:lstStyle/>
                    <a:p>
                      <a:r>
                        <a:rPr lang="en-US" dirty="0"/>
                        <a:t>B Vishnu Vardhan</a:t>
                      </a:r>
                      <a:endParaRPr lang="en-IN"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sz="2000" b="0" dirty="0"/>
              <a:t>PSCS_</a:t>
            </a:r>
            <a:r>
              <a:rPr lang="en-IN" sz="2400" b="0" dirty="0"/>
              <a:t>208</a:t>
            </a:r>
            <a:endParaRPr b="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799" y="1143001"/>
            <a:ext cx="11123561" cy="4844844"/>
          </a:xfrm>
          <a:prstGeom prst="rect">
            <a:avLst/>
          </a:prstGeom>
          <a:noFill/>
          <a:ln>
            <a:noFill/>
          </a:ln>
        </p:spPr>
        <p:txBody>
          <a:bodyPr spcFirstLastPara="1" wrap="square" lIns="91425" tIns="45700" rIns="91425" bIns="45700" anchor="t" anchorCtr="0">
            <a:normAutofit fontScale="55000" lnSpcReduction="20000"/>
          </a:bodyPr>
          <a:lstStyle/>
          <a:p>
            <a:pPr marL="342900" lvl="0" indent="-190500" algn="just">
              <a:spcBef>
                <a:spcPts val="0"/>
              </a:spcBef>
              <a:buNone/>
            </a:pPr>
            <a:r>
              <a:rPr lang="en-US" sz="2900" dirty="0">
                <a:latin typeface="Cambria" panose="02040503050406030204" pitchFamily="18" charset="0"/>
                <a:ea typeface="Cambria" panose="02040503050406030204" pitchFamily="18" charset="0"/>
              </a:rPr>
              <a:t>Organization: Presidency University</a:t>
            </a:r>
            <a:endParaRPr lang="en-US" sz="29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900" dirty="0">
                <a:latin typeface="Cambria" panose="02040503050406030204" pitchFamily="18" charset="0"/>
                <a:ea typeface="Cambria" panose="02040503050406030204" pitchFamily="18" charset="0"/>
              </a:rPr>
              <a:t>Category (Hardware / Software / Both) :Both</a:t>
            </a:r>
            <a:endParaRPr lang="en-US" sz="29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900" dirty="0">
                <a:latin typeface="Cambria" panose="02040503050406030204" pitchFamily="18" charset="0"/>
                <a:ea typeface="Cambria" panose="02040503050406030204" pitchFamily="18" charset="0"/>
              </a:rPr>
              <a:t>Problem Description:</a:t>
            </a:r>
            <a:r>
              <a:rPr lang="en-US" sz="3200" dirty="0">
                <a:latin typeface="Cambria" panose="02040503050406030204" pitchFamily="18" charset="0"/>
                <a:ea typeface="Cambria" panose="02040503050406030204" pitchFamily="18" charset="0"/>
              </a:rPr>
              <a:t> </a:t>
            </a:r>
            <a:r>
              <a:rPr lang="en-US" sz="2500" dirty="0">
                <a:latin typeface="Cambria" panose="02040503050406030204" pitchFamily="18" charset="0"/>
                <a:ea typeface="Cambria" panose="02040503050406030204" pitchFamily="18" charset="0"/>
              </a:rPr>
              <a:t>Water scarcity is a major challenge in agriculture, leading to inefficient</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water use and reduced crop yields. Traditional irrigation methods often result in</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overuse or underuse of water. Description: Develop a smart irrigation system that</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utilizes sensors and IoT technology to monitor soil moisture levels and weather</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conditions. This system will provide real-time data to farmers, enabling them to</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make informed decisions on irrigation scheduling, thus optimizing water usage and</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enhancing crop yield. Expected Solution: A smart irrigation module integrated with</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moisture sensors and a mobile application to provide farmers with timely irrigation</a:t>
            </a:r>
            <a:endParaRPr lang="en-US" sz="25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500" dirty="0">
                <a:latin typeface="Cambria" panose="02040503050406030204" pitchFamily="18" charset="0"/>
                <a:ea typeface="Cambria" panose="02040503050406030204" pitchFamily="18" charset="0"/>
              </a:rPr>
              <a:t>alerts and recommendations based on real-time data.</a:t>
            </a:r>
            <a:endParaRPr lang="en-US" sz="25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5" name="Title 4"/>
          <p:cNvSpPr>
            <a:spLocks noGrp="1"/>
          </p:cNvSpPr>
          <p:nvPr>
            <p:ph type="title"/>
          </p:nvPr>
        </p:nvSpPr>
        <p:spPr/>
        <p:txBody>
          <a:bodyPr/>
          <a:lstStyle/>
          <a:p>
            <a:r>
              <a:rPr lang="en-US" sz="2000" dirty="0"/>
              <a:t>Objectives:</a:t>
            </a:r>
            <a:endParaRPr lang="en-IN" sz="2000" dirty="0"/>
          </a:p>
        </p:txBody>
      </p:sp>
      <p:sp>
        <p:nvSpPr>
          <p:cNvPr id="8" name="TextBox 7"/>
          <p:cNvSpPr txBox="1"/>
          <p:nvPr/>
        </p:nvSpPr>
        <p:spPr>
          <a:xfrm>
            <a:off x="698090" y="1179870"/>
            <a:ext cx="11130116" cy="4616648"/>
          </a:xfrm>
          <a:prstGeom prst="rect">
            <a:avLst/>
          </a:prstGeom>
          <a:noFill/>
        </p:spPr>
        <p:txBody>
          <a:bodyPr wrap="square" rtlCol="0">
            <a:spAutoFit/>
          </a:bodyPr>
          <a:lstStyle/>
          <a:p>
            <a:pPr marL="342900" lvl="1" indent="-342900">
              <a:buFont typeface="+mj-lt"/>
              <a:buAutoNum type="arabicPeriod"/>
            </a:pPr>
            <a:r>
              <a:rPr lang="en-US" b="1" dirty="0"/>
              <a:t>Monitor Soil Moisture and Weather Conditions</a:t>
            </a:r>
            <a:br>
              <a:rPr lang="en-US" dirty="0"/>
            </a:br>
            <a:r>
              <a:rPr lang="en-US" dirty="0"/>
              <a:t>Deploy IoT-based sensors to gather real-time data on soil moisture, temperature, and weather forecasts.</a:t>
            </a:r>
            <a:endParaRPr lang="en-US" dirty="0"/>
          </a:p>
          <a:p>
            <a:pPr marL="342900" lvl="1" indent="-342900">
              <a:buFont typeface="+mj-lt"/>
              <a:buAutoNum type="arabicPeriod"/>
            </a:pPr>
            <a:endParaRPr lang="en-US" dirty="0"/>
          </a:p>
          <a:p>
            <a:pPr marL="342900" lvl="1" indent="-342900">
              <a:buFont typeface="+mj-lt"/>
              <a:buAutoNum type="arabicPeriod"/>
            </a:pPr>
            <a:r>
              <a:rPr lang="en-US" b="1" dirty="0"/>
              <a:t>Automate Irrigation Processes</a:t>
            </a:r>
            <a:br>
              <a:rPr lang="en-US" dirty="0"/>
            </a:br>
            <a:r>
              <a:rPr lang="en-US" dirty="0"/>
              <a:t>Implement automated control of irrigation based on sensor readings and pre-set thresholds, minimizing human intervention.</a:t>
            </a:r>
            <a:endParaRPr lang="en-US" dirty="0"/>
          </a:p>
          <a:p>
            <a:pPr marL="342900" lvl="1" indent="-342900">
              <a:buFont typeface="+mj-lt"/>
              <a:buAutoNum type="arabicPeriod"/>
            </a:pPr>
            <a:endParaRPr lang="en-US" dirty="0"/>
          </a:p>
          <a:p>
            <a:pPr marL="342900" lvl="1" indent="-342900">
              <a:buFont typeface="+mj-lt"/>
              <a:buAutoNum type="arabicPeriod"/>
            </a:pPr>
            <a:r>
              <a:rPr lang="en-US" b="1" dirty="0"/>
              <a:t>Enable Real-Time Monitoring</a:t>
            </a:r>
            <a:br>
              <a:rPr lang="en-US" dirty="0"/>
            </a:br>
            <a:r>
              <a:rPr lang="en-US" dirty="0"/>
              <a:t>Use IoT sensors to collect live data on soil moisture, temperature, humidity, and other environmental parameters.</a:t>
            </a:r>
            <a:endParaRPr lang="en-US" dirty="0"/>
          </a:p>
          <a:p>
            <a:pPr marL="342900" lvl="1" indent="-342900">
              <a:buFont typeface="+mj-lt"/>
              <a:buAutoNum type="arabicPeriod"/>
            </a:pPr>
            <a:endParaRPr lang="en-US" dirty="0"/>
          </a:p>
          <a:p>
            <a:pPr marL="342900" lvl="1" indent="-342900">
              <a:buFont typeface="+mj-lt"/>
              <a:buAutoNum type="arabicPeriod"/>
            </a:pPr>
            <a:r>
              <a:rPr lang="en-US" b="1" dirty="0"/>
              <a:t>Optimize Water Usage</a:t>
            </a:r>
            <a:br>
              <a:rPr lang="en-US" dirty="0"/>
            </a:br>
            <a:r>
              <a:rPr lang="en-US" dirty="0"/>
              <a:t>Reduce wastage and prevent over- or under-irrigation by delivering the right amount of water to crops when needed.</a:t>
            </a:r>
            <a:endParaRPr lang="en-US" dirty="0"/>
          </a:p>
          <a:p>
            <a:pPr marL="342900" lvl="1" indent="-342900">
              <a:buFont typeface="+mj-lt"/>
              <a:buAutoNum type="arabicPeriod"/>
            </a:pPr>
            <a:endParaRPr lang="en-US" dirty="0"/>
          </a:p>
          <a:p>
            <a:pPr marL="342900" lvl="1" indent="-342900">
              <a:buFont typeface="+mj-lt"/>
              <a:buAutoNum type="arabicPeriod"/>
            </a:pPr>
            <a:r>
              <a:rPr lang="en-US" b="1" dirty="0"/>
              <a:t>Automate Irrigation Recommendations</a:t>
            </a:r>
            <a:br>
              <a:rPr lang="en-US" dirty="0"/>
            </a:br>
            <a:r>
              <a:rPr lang="en-US" dirty="0"/>
              <a:t>Use mobile applications to deliver timely alerts and guidance for irrigation based on live sensor data.</a:t>
            </a:r>
            <a:endParaRPr lang="en-US" dirty="0"/>
          </a:p>
          <a:p>
            <a:pPr marL="342900" lvl="1" indent="-342900">
              <a:buFont typeface="+mj-lt"/>
              <a:buAutoNum type="arabicPeriod"/>
            </a:pPr>
            <a:endParaRPr lang="en-US" dirty="0"/>
          </a:p>
          <a:p>
            <a:pPr marL="342900" lvl="1" indent="-342900">
              <a:buFont typeface="+mj-lt"/>
              <a:buAutoNum type="arabicPeriod"/>
            </a:pPr>
            <a:r>
              <a:rPr lang="en-US" b="1" dirty="0"/>
              <a:t>Enable Remote Control and Alerts</a:t>
            </a:r>
            <a:br>
              <a:rPr lang="en-US" dirty="0"/>
            </a:br>
            <a:r>
              <a:rPr lang="en-US" dirty="0"/>
              <a:t>Provide farmers with the ability to control and monitor the system via mobile or web applications, including notifications for critical conditions.</a:t>
            </a:r>
            <a:endParaRPr lang="en-US" dirty="0"/>
          </a:p>
          <a:p>
            <a:pPr marL="342900" lvl="1" indent="-342900">
              <a:buFont typeface="+mj-lt"/>
              <a:buAutoNum type="arabicPeriod"/>
            </a:pPr>
            <a:endParaRPr lang="en-US" dirty="0"/>
          </a:p>
          <a:p>
            <a:pPr marL="342900" lvl="1" indent="-342900">
              <a:buFont typeface="+mj-lt"/>
              <a:buAutoNum type="arabicPeriod"/>
            </a:pPr>
            <a:endParaRPr lang="en-US"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	Agriculture plays a critical role in India's food production development. Agriculture in our country is reliant on the monsoons, which provide little water. As a result, irrigation is employed in agriculture. Water is delivered to plants in an irrigation system based on the soil type. Plant humidity and temperature are accurately managed with this method. Due to varying atmospheric conditions, these variables might change from place to place in a large farmhouse, making it difficult to maintain consistency at all points across the farmhouse manually. We should also know the right crop to grow at right time of the season and looking at the atmospheric parameter. The major goal of this research is to create a smart wireless sensor network  for use in an agricultural setting. It is important to monitor the agricultural environment for numerous parameters such as soil moisture, temperature, and humidity, as well as other factors of water level present in the environment and condition of water for giving it to plants</a:t>
            </a: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altLang="en-US" dirty="0">
                <a:latin typeface="Cambria" panose="02040503050406030204" pitchFamily="18" charset="0"/>
                <a:ea typeface="Cambria" panose="02040503050406030204" pitchFamily="18" charset="0"/>
                <a:hlinkClick r:id="rId1"/>
              </a:rPr>
              <a:t>https://github.com/vishnuvardhanjune24-arch/smart-irriation</a:t>
            </a: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Overview:</a:t>
            </a:r>
            <a:endParaRPr lang="en-US"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3669886" y="979499"/>
            <a:ext cx="6683481" cy="53328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dirty="0"/>
              <a:t>Hardware Requirements:</a:t>
            </a:r>
            <a:endParaRPr lang="en-IN" sz="2000" dirty="0"/>
          </a:p>
          <a:p>
            <a:pPr marL="76200" indent="0">
              <a:buNone/>
            </a:pPr>
            <a:endParaRPr lang="en-IN" sz="2000" dirty="0"/>
          </a:p>
          <a:p>
            <a:pPr>
              <a:buFont typeface="Wingdings" panose="05000000000000000000" pitchFamily="2" charset="2"/>
              <a:buChar char="§"/>
            </a:pPr>
            <a:r>
              <a:rPr lang="en-US" sz="1800" dirty="0"/>
              <a:t>Field Sensors (measure soil &amp; environment)</a:t>
            </a:r>
            <a:endParaRPr lang="en-US" sz="1800" dirty="0"/>
          </a:p>
          <a:p>
            <a:pPr>
              <a:buFont typeface="Wingdings" panose="05000000000000000000" pitchFamily="2" charset="2"/>
              <a:buChar char="§"/>
            </a:pPr>
            <a:r>
              <a:rPr lang="en-IN" sz="1800" dirty="0"/>
              <a:t>Actuators &amp; Irrigation Hardware</a:t>
            </a:r>
            <a:endParaRPr lang="en-IN" sz="1800" dirty="0"/>
          </a:p>
          <a:p>
            <a:pPr>
              <a:buFont typeface="Wingdings" panose="05000000000000000000" pitchFamily="2" charset="2"/>
              <a:buChar char="§"/>
            </a:pPr>
            <a:r>
              <a:rPr lang="en-IN" sz="1800" dirty="0"/>
              <a:t>Power System</a:t>
            </a:r>
            <a:endParaRPr lang="en-IN" sz="1800" dirty="0"/>
          </a:p>
          <a:p>
            <a:pPr marL="76200" indent="0">
              <a:buNone/>
            </a:pPr>
            <a:endParaRPr lang="en-IN" sz="2000" dirty="0"/>
          </a:p>
          <a:p>
            <a:pPr marL="76200" indent="0">
              <a:buNone/>
            </a:pPr>
            <a:r>
              <a:rPr lang="en-IN" sz="2000" dirty="0"/>
              <a:t>Software Requirements:</a:t>
            </a:r>
            <a:endParaRPr lang="en-IN" sz="2000" dirty="0"/>
          </a:p>
          <a:p>
            <a:pPr marL="76200" indent="0">
              <a:buNone/>
            </a:pPr>
            <a:endParaRPr lang="en-IN" sz="2000" dirty="0"/>
          </a:p>
          <a:p>
            <a:pPr>
              <a:buFont typeface="Wingdings" panose="05000000000000000000" pitchFamily="2" charset="2"/>
              <a:buChar char="§"/>
            </a:pPr>
            <a:r>
              <a:rPr lang="en-IN" sz="1800" dirty="0"/>
              <a:t>Firmware / Edge Software</a:t>
            </a:r>
            <a:endParaRPr lang="en-IN" sz="1800" dirty="0"/>
          </a:p>
          <a:p>
            <a:pPr>
              <a:buFont typeface="Wingdings" panose="05000000000000000000" pitchFamily="2" charset="2"/>
              <a:buChar char="§"/>
            </a:pPr>
            <a:r>
              <a:rPr lang="en-IN" sz="1800" dirty="0"/>
              <a:t>Front-end(Mobile app)</a:t>
            </a:r>
            <a:endParaRPr lang="en-IN"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7753" y="521110"/>
            <a:ext cx="9802761" cy="400110"/>
          </a:xfrm>
          <a:prstGeom prst="rect">
            <a:avLst/>
          </a:prstGeom>
          <a:noFill/>
        </p:spPr>
        <p:txBody>
          <a:bodyPr wrap="square" rtlCol="0">
            <a:spAutoFit/>
          </a:bodyPr>
          <a:lstStyle/>
          <a:p>
            <a:r>
              <a:rPr lang="en-IN" sz="2000" b="1" dirty="0">
                <a:solidFill>
                  <a:schemeClr val="bg2">
                    <a:lumMod val="40000"/>
                    <a:lumOff val="60000"/>
                  </a:schemeClr>
                </a:solidFill>
              </a:rPr>
              <a:t>Innovation or Novel Contributions</a:t>
            </a:r>
            <a:endParaRPr lang="en-IN" sz="2000" dirty="0">
              <a:solidFill>
                <a:schemeClr val="bg2">
                  <a:lumMod val="40000"/>
                  <a:lumOff val="60000"/>
                </a:schemeClr>
              </a:solidFill>
            </a:endParaRPr>
          </a:p>
        </p:txBody>
      </p:sp>
      <p:sp>
        <p:nvSpPr>
          <p:cNvPr id="4" name="TextBox 3"/>
          <p:cNvSpPr txBox="1"/>
          <p:nvPr/>
        </p:nvSpPr>
        <p:spPr>
          <a:xfrm>
            <a:off x="963561" y="1288026"/>
            <a:ext cx="8495071" cy="3200876"/>
          </a:xfrm>
          <a:prstGeom prst="rect">
            <a:avLst/>
          </a:prstGeom>
          <a:noFill/>
        </p:spPr>
        <p:txBody>
          <a:bodyPr wrap="square" rtlCol="0">
            <a:spAutoFit/>
          </a:bodyPr>
          <a:lstStyle/>
          <a:p>
            <a:pPr marL="342900" indent="-342900">
              <a:buFont typeface="+mj-lt"/>
              <a:buAutoNum type="alphaLcPeriod"/>
            </a:pPr>
            <a:r>
              <a:rPr lang="en-US" sz="1800" dirty="0"/>
              <a:t>Integration of IoT and Weather Forecasting:</a:t>
            </a:r>
            <a:endParaRPr lang="en-US" sz="1800" dirty="0"/>
          </a:p>
          <a:p>
            <a:r>
              <a:rPr lang="en-US" sz="1600" dirty="0"/>
              <a:t>	Unlike basic irrigation timers, the proposed system uses real-time sensor data 	along with weather predictions to make intelligent irrigation decisions</a:t>
            </a:r>
            <a:endParaRPr lang="en-US" sz="1600" dirty="0"/>
          </a:p>
          <a:p>
            <a:endParaRPr lang="en-US" sz="1800" dirty="0"/>
          </a:p>
          <a:p>
            <a:r>
              <a:rPr lang="en-US" sz="1800" dirty="0"/>
              <a:t>b.  Crop-Specific Irrigation Algorithms:</a:t>
            </a:r>
            <a:endParaRPr lang="en-US" sz="1800" dirty="0"/>
          </a:p>
          <a:p>
            <a:pPr lvl="1"/>
            <a:r>
              <a:rPr lang="en-US" sz="1600" dirty="0"/>
              <a:t>	The system allows customization of moisture thresholds and watering schedules 	based on crop type and growth stage.</a:t>
            </a:r>
            <a:endParaRPr lang="en-US" sz="1600" dirty="0"/>
          </a:p>
          <a:p>
            <a:endParaRPr lang="en-US" sz="1600" dirty="0"/>
          </a:p>
          <a:p>
            <a:r>
              <a:rPr lang="en-US" sz="1600" dirty="0"/>
              <a:t>c.  </a:t>
            </a:r>
            <a:r>
              <a:rPr lang="en-US" sz="1800" dirty="0"/>
              <a:t>Mobile App with Real-Time Alerts and Recommendations:</a:t>
            </a:r>
            <a:endParaRPr lang="en-US" sz="1800" dirty="0"/>
          </a:p>
          <a:p>
            <a:r>
              <a:rPr lang="en-US" sz="1800" dirty="0"/>
              <a:t>	</a:t>
            </a:r>
            <a:r>
              <a:rPr lang="en-US" sz="1600" dirty="0"/>
              <a:t>Farmers receive instant notifications about soil moisture status and 	irrigation needs, enabling timely action without constant manual monitoring.</a:t>
            </a:r>
            <a:endParaRPr lang="en-US" sz="1600" dirty="0"/>
          </a:p>
          <a:p>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US" dirty="0"/>
              <a:t>Phase 1 – Research &amp; Design </a:t>
            </a:r>
            <a:endParaRPr lang="en-US" dirty="0"/>
          </a:p>
          <a:p>
            <a:r>
              <a:rPr lang="en-IN" dirty="0"/>
              <a:t>Phase 2 – Implementation &amp; Integration</a:t>
            </a:r>
            <a:endParaRPr lang="en-IN" dirty="0"/>
          </a:p>
          <a:p>
            <a:r>
              <a:rPr lang="en-US" dirty="0"/>
              <a:t>Phase 3 – Testing, Evaluation &amp; Finalization</a:t>
            </a:r>
            <a:endParaRPr lang="en-US" dirty="0"/>
          </a:p>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a:t>
            </a:r>
            <a:endParaRPr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p:txBody>
          <a:bodyPr>
            <a:normAutofit/>
          </a:bodyPr>
          <a:lstStyle/>
          <a:p>
            <a:r>
              <a:rPr lang="en-US" sz="1800" dirty="0"/>
              <a:t>Patil, S. P., &amp; Kale, R. B. (2021). Smart irrigation system for precision agriculture using IoT and cloud computing. </a:t>
            </a:r>
            <a:r>
              <a:rPr lang="en-US" sz="1800" i="1" dirty="0"/>
              <a:t>International Journal of Innovative Technology and Exploring Engineering (IJITEE)</a:t>
            </a:r>
            <a:endParaRPr lang="en-US" sz="1800" i="1" dirty="0"/>
          </a:p>
          <a:p>
            <a:endParaRPr lang="en-US" sz="1800" i="1" dirty="0"/>
          </a:p>
          <a:p>
            <a:r>
              <a:rPr lang="en-US" sz="1800" dirty="0" err="1"/>
              <a:t>Mahalle</a:t>
            </a:r>
            <a:r>
              <a:rPr lang="en-US" sz="1800" dirty="0"/>
              <a:t> P.N, Shinde, V., &amp; Deshpande, V. (2020). Precision irrigation using IoT for water-efficient farming. </a:t>
            </a:r>
            <a:r>
              <a:rPr lang="en-US" sz="1800" i="1" dirty="0"/>
              <a:t>International Journal of Advanced Science and Technology</a:t>
            </a:r>
            <a:endParaRPr lang="en-US" sz="1800" i="1" dirty="0"/>
          </a:p>
          <a:p>
            <a:endParaRPr lang="en-US" sz="1800" i="1" dirty="0"/>
          </a:p>
          <a:p>
            <a:endParaRPr lang="en-US" sz="1800" i="1" dirty="0"/>
          </a:p>
          <a:p>
            <a:r>
              <a:rPr lang="en-US" sz="1800" dirty="0"/>
              <a:t>Prathibha, S. R., </a:t>
            </a:r>
            <a:r>
              <a:rPr lang="en-US" sz="1800" dirty="0" err="1"/>
              <a:t>Hongal</a:t>
            </a:r>
            <a:r>
              <a:rPr lang="en-US" sz="1800" dirty="0"/>
              <a:t>, A., &amp; Jyothi, M. P. (2017). IoT based monitoring system in smart agriculture.</a:t>
            </a:r>
            <a:endParaRPr lang="en-IN"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4848</Words>
  <Application>WPS Presentation</Application>
  <PresentationFormat>Widescreen</PresentationFormat>
  <Paragraphs>130</Paragraphs>
  <Slides>11</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Arial</vt:lpstr>
      <vt:lpstr>Verdana</vt:lpstr>
      <vt:lpstr>Bookman Old Style</vt:lpstr>
      <vt:lpstr>Cambria</vt:lpstr>
      <vt:lpstr>Microsoft YaHei</vt:lpstr>
      <vt:lpstr>Arial Unicode MS</vt:lpstr>
      <vt:lpstr>Bioinformatics</vt:lpstr>
      <vt:lpstr>PROJECT TITLE</vt:lpstr>
      <vt:lpstr>Problem Statement Number: PSCS_208</vt:lpstr>
      <vt:lpstr>Objectives:</vt:lpstr>
      <vt:lpstr>Analysis of Problem Statement</vt:lpstr>
      <vt:lpstr>Github Link</vt:lpstr>
      <vt:lpstr>Overview:</vt:lpstr>
      <vt:lpstr>Analysis of Problem Statement (contd...)</vt:lpstr>
      <vt:lpstr>PowerPoint 演示文稿</vt:lpstr>
      <vt:lpstr>Timeline of the Project (Gantt Chart)</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Vishnu Vardhan</cp:lastModifiedBy>
  <cp:revision>44</cp:revision>
  <dcterms:created xsi:type="dcterms:W3CDTF">2025-08-13T03:02:00Z</dcterms:created>
  <dcterms:modified xsi:type="dcterms:W3CDTF">2025-08-13T03:08:17Z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41E9387706ED402EB89C8C1C169FF62F_13</vt:lpwstr>
  </property>
  <property fmtid="{D5CDD505-2E9C-101B-9397-08002B2CF9AE}" pid="3" name="KSOProductBuildVer">
    <vt:lpwstr>1033-12.2.0.21931</vt:lpwstr>
  </property>
</Properties>
</file>